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8" r:id="rId6"/>
    <p:sldId id="269" r:id="rId7"/>
    <p:sldId id="260" r:id="rId8"/>
    <p:sldId id="261" r:id="rId9"/>
    <p:sldId id="262" r:id="rId10"/>
    <p:sldId id="27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C693A52-E44E-4C32-8ABA-C2EAEAC568B5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3A3A668-C700-4636-9FFE-3973EDEAEA0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>
              <a:latin typeface="Aptos" panose="020B0004020202020204" pitchFamily="34" charset="0"/>
            </a:rPr>
            <a:t>Config files define receipts, locations and assignment rules.</a:t>
          </a:r>
        </a:p>
      </dgm:t>
    </dgm:pt>
    <dgm:pt modelId="{078141C4-2583-419B-B709-BB0D0EDF5C0D}" type="parTrans" cxnId="{FC1966B6-0B69-4647-8C95-A8983070934F}">
      <dgm:prSet/>
      <dgm:spPr/>
      <dgm:t>
        <a:bodyPr/>
        <a:lstStyle/>
        <a:p>
          <a:endParaRPr lang="en-US"/>
        </a:p>
      </dgm:t>
    </dgm:pt>
    <dgm:pt modelId="{FE444194-CD94-4DD1-9D82-12A59176ABFC}" type="sibTrans" cxnId="{FC1966B6-0B69-4647-8C95-A8983070934F}">
      <dgm:prSet/>
      <dgm:spPr/>
      <dgm:t>
        <a:bodyPr/>
        <a:lstStyle/>
        <a:p>
          <a:endParaRPr lang="en-US"/>
        </a:p>
      </dgm:t>
    </dgm:pt>
    <dgm:pt modelId="{AA192D39-2805-4413-9125-9218B6EEDE3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>
              <a:latin typeface="Aptos" panose="020B0004020202020204" pitchFamily="34" charset="0"/>
            </a:rPr>
            <a:t>Bash scripts build the runtime snapshots and validation logs.</a:t>
          </a:r>
        </a:p>
      </dgm:t>
    </dgm:pt>
    <dgm:pt modelId="{BD6252B7-3D2F-4A0F-8465-1CFB4E651EEE}" type="parTrans" cxnId="{560F877A-660D-453A-ACBF-EB0C77BEB75C}">
      <dgm:prSet/>
      <dgm:spPr/>
      <dgm:t>
        <a:bodyPr/>
        <a:lstStyle/>
        <a:p>
          <a:endParaRPr lang="en-US"/>
        </a:p>
      </dgm:t>
    </dgm:pt>
    <dgm:pt modelId="{FCE4B612-8632-4705-9204-C5524D72D3D2}" type="sibTrans" cxnId="{560F877A-660D-453A-ACBF-EB0C77BEB75C}">
      <dgm:prSet/>
      <dgm:spPr/>
      <dgm:t>
        <a:bodyPr/>
        <a:lstStyle/>
        <a:p>
          <a:endParaRPr lang="en-US"/>
        </a:p>
      </dgm:t>
    </dgm:pt>
    <dgm:pt modelId="{4BBC136A-E2FB-4051-95F9-A43B58BFF1E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200" dirty="0">
              <a:latin typeface="Aptos" panose="020B0004020202020204" pitchFamily="34" charset="0"/>
            </a:rPr>
            <a:t>Oracle tables store the receipt, pallets, locations, status events, and calculates available storage capacity</a:t>
          </a:r>
        </a:p>
      </dgm:t>
    </dgm:pt>
    <dgm:pt modelId="{DF66BEFB-27F2-4DA0-BD20-EC546C520ED8}" type="parTrans" cxnId="{2A1380C7-2EAA-4CF3-8F61-CA9497368C91}">
      <dgm:prSet/>
      <dgm:spPr/>
      <dgm:t>
        <a:bodyPr/>
        <a:lstStyle/>
        <a:p>
          <a:endParaRPr lang="en-US"/>
        </a:p>
      </dgm:t>
    </dgm:pt>
    <dgm:pt modelId="{49C58AA8-5EBC-46CA-BD23-789F2B104655}" type="sibTrans" cxnId="{2A1380C7-2EAA-4CF3-8F61-CA9497368C91}">
      <dgm:prSet/>
      <dgm:spPr/>
      <dgm:t>
        <a:bodyPr/>
        <a:lstStyle/>
        <a:p>
          <a:endParaRPr lang="en-US"/>
        </a:p>
      </dgm:t>
    </dgm:pt>
    <dgm:pt modelId="{7C1C31A8-FA54-4C2E-8AF3-27C186246CEF}">
      <dgm:prSet custT="1"/>
      <dgm:spPr/>
      <dgm:t>
        <a:bodyPr/>
        <a:lstStyle/>
        <a:p>
          <a:pPr>
            <a:lnSpc>
              <a:spcPct val="100000"/>
            </a:lnSpc>
            <a:buNone/>
          </a:pPr>
          <a:r>
            <a:rPr lang="en-US" sz="1400" b="0" i="0" dirty="0">
              <a:latin typeface="Aptos" panose="020B0004020202020204" pitchFamily="34" charset="0"/>
            </a:rPr>
            <a:t>Verifies the priority placement rule for high-quantity pallets.</a:t>
          </a:r>
          <a:endParaRPr lang="en-US" sz="1400" dirty="0">
            <a:latin typeface="Aptos" panose="020B0004020202020204" pitchFamily="34" charset="0"/>
          </a:endParaRPr>
        </a:p>
      </dgm:t>
    </dgm:pt>
    <dgm:pt modelId="{4052463A-6EDA-4B51-89E1-6148412BBA5A}" type="parTrans" cxnId="{82644EA5-22CA-4622-B77F-48C5B840CFDC}">
      <dgm:prSet/>
      <dgm:spPr/>
      <dgm:t>
        <a:bodyPr/>
        <a:lstStyle/>
        <a:p>
          <a:endParaRPr lang="en-US"/>
        </a:p>
      </dgm:t>
    </dgm:pt>
    <dgm:pt modelId="{2C343E0E-A1E0-4AA4-9BB4-A9EFB7EFE8F6}" type="sibTrans" cxnId="{82644EA5-22CA-4622-B77F-48C5B840CFDC}">
      <dgm:prSet/>
      <dgm:spPr/>
      <dgm:t>
        <a:bodyPr/>
        <a:lstStyle/>
        <a:p>
          <a:endParaRPr lang="en-US"/>
        </a:p>
      </dgm:t>
    </dgm:pt>
    <dgm:pt modelId="{D330EC1B-FA9C-4044-8965-34C78918A279}" type="pres">
      <dgm:prSet presAssocID="{3C693A52-E44E-4C32-8ABA-C2EAEAC568B5}" presName="root" presStyleCnt="0">
        <dgm:presLayoutVars>
          <dgm:dir/>
          <dgm:resizeHandles val="exact"/>
        </dgm:presLayoutVars>
      </dgm:prSet>
      <dgm:spPr/>
    </dgm:pt>
    <dgm:pt modelId="{AE98D89B-E061-4D3D-B8BB-21498E17AEFB}" type="pres">
      <dgm:prSet presAssocID="{13A3A668-C700-4636-9FFE-3973EDEAEA0C}" presName="compNode" presStyleCnt="0"/>
      <dgm:spPr/>
    </dgm:pt>
    <dgm:pt modelId="{C77E3A92-3D77-43F6-AF64-8437527644ED}" type="pres">
      <dgm:prSet presAssocID="{13A3A668-C700-4636-9FFE-3973EDEAEA0C}" presName="iconRect" presStyleLbl="node1" presStyleIdx="0" presStyleCnt="4" custLinFactNeighborX="-2172" custLinFactNeighborY="-935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7C3B5ECA-3E79-4411-A448-F0EE60CC0D4D}" type="pres">
      <dgm:prSet presAssocID="{13A3A668-C700-4636-9FFE-3973EDEAEA0C}" presName="spaceRect" presStyleCnt="0"/>
      <dgm:spPr/>
    </dgm:pt>
    <dgm:pt modelId="{B51601ED-DF6B-421B-B3B7-2FF29C3DEC6C}" type="pres">
      <dgm:prSet presAssocID="{13A3A668-C700-4636-9FFE-3973EDEAEA0C}" presName="textRect" presStyleLbl="revTx" presStyleIdx="0" presStyleCnt="4">
        <dgm:presLayoutVars>
          <dgm:chMax val="1"/>
          <dgm:chPref val="1"/>
        </dgm:presLayoutVars>
      </dgm:prSet>
      <dgm:spPr/>
    </dgm:pt>
    <dgm:pt modelId="{D1DA7439-47AA-486F-BF9F-6D6B21669E7D}" type="pres">
      <dgm:prSet presAssocID="{FE444194-CD94-4DD1-9D82-12A59176ABFC}" presName="sibTrans" presStyleCnt="0"/>
      <dgm:spPr/>
    </dgm:pt>
    <dgm:pt modelId="{2A038CB3-54B6-4AEF-89CD-D81CBA3A7BAC}" type="pres">
      <dgm:prSet presAssocID="{AA192D39-2805-4413-9125-9218B6EEDE3A}" presName="compNode" presStyleCnt="0"/>
      <dgm:spPr/>
    </dgm:pt>
    <dgm:pt modelId="{AF6C95C7-83BC-40A3-B3B8-9234084C94A0}" type="pres">
      <dgm:prSet presAssocID="{AA192D39-2805-4413-9125-9218B6EEDE3A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Καταστροφέας εγγράφων"/>
        </a:ext>
      </dgm:extLst>
    </dgm:pt>
    <dgm:pt modelId="{BF54F300-E16E-40A9-99DE-66E3FC4E43A8}" type="pres">
      <dgm:prSet presAssocID="{AA192D39-2805-4413-9125-9218B6EEDE3A}" presName="spaceRect" presStyleCnt="0"/>
      <dgm:spPr/>
    </dgm:pt>
    <dgm:pt modelId="{B249C65B-195C-4D77-B2BB-14DB1C675A56}" type="pres">
      <dgm:prSet presAssocID="{AA192D39-2805-4413-9125-9218B6EEDE3A}" presName="textRect" presStyleLbl="revTx" presStyleIdx="1" presStyleCnt="4">
        <dgm:presLayoutVars>
          <dgm:chMax val="1"/>
          <dgm:chPref val="1"/>
        </dgm:presLayoutVars>
      </dgm:prSet>
      <dgm:spPr/>
    </dgm:pt>
    <dgm:pt modelId="{182AE6B7-CFFD-43ED-85A3-0BD2B86E367A}" type="pres">
      <dgm:prSet presAssocID="{FCE4B612-8632-4705-9204-C5524D72D3D2}" presName="sibTrans" presStyleCnt="0"/>
      <dgm:spPr/>
    </dgm:pt>
    <dgm:pt modelId="{1F731C5F-A484-4AC3-9092-148FAFDF3670}" type="pres">
      <dgm:prSet presAssocID="{4BBC136A-E2FB-4051-95F9-A43B58BFF1E3}" presName="compNode" presStyleCnt="0"/>
      <dgm:spPr/>
    </dgm:pt>
    <dgm:pt modelId="{17BF17FA-93BF-4F83-B291-C1F2A6E8F3BD}" type="pres">
      <dgm:prSet presAssocID="{4BBC136A-E2FB-4051-95F9-A43B58BFF1E3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Βάση δεδομένων"/>
        </a:ext>
      </dgm:extLst>
    </dgm:pt>
    <dgm:pt modelId="{CF2D7324-B0D2-4918-BDD2-7ABE9D757296}" type="pres">
      <dgm:prSet presAssocID="{4BBC136A-E2FB-4051-95F9-A43B58BFF1E3}" presName="spaceRect" presStyleCnt="0"/>
      <dgm:spPr/>
    </dgm:pt>
    <dgm:pt modelId="{23D49F27-4631-4D32-86B8-6B8A3365DE86}" type="pres">
      <dgm:prSet presAssocID="{4BBC136A-E2FB-4051-95F9-A43B58BFF1E3}" presName="textRect" presStyleLbl="revTx" presStyleIdx="2" presStyleCnt="4">
        <dgm:presLayoutVars>
          <dgm:chMax val="1"/>
          <dgm:chPref val="1"/>
        </dgm:presLayoutVars>
      </dgm:prSet>
      <dgm:spPr/>
    </dgm:pt>
    <dgm:pt modelId="{3196FBB6-63A3-45E3-9804-781588F79EA5}" type="pres">
      <dgm:prSet presAssocID="{49C58AA8-5EBC-46CA-BD23-789F2B104655}" presName="sibTrans" presStyleCnt="0"/>
      <dgm:spPr/>
    </dgm:pt>
    <dgm:pt modelId="{AAC824C6-60FB-42CA-BD19-D83BA52C207C}" type="pres">
      <dgm:prSet presAssocID="{7C1C31A8-FA54-4C2E-8AF3-27C186246CEF}" presName="compNode" presStyleCnt="0"/>
      <dgm:spPr/>
    </dgm:pt>
    <dgm:pt modelId="{BE50062B-695F-4D59-B745-A1D4C8860C21}" type="pres">
      <dgm:prSet presAssocID="{7C1C31A8-FA54-4C2E-8AF3-27C186246CEF}" presName="iconRect" presStyleLbl="node1" presStyleIdx="3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Ιστολόγιο με συμπαγές γέμισμα"/>
        </a:ext>
      </dgm:extLst>
    </dgm:pt>
    <dgm:pt modelId="{45400B8E-B2C8-4B9E-B59C-DADFCB2DB165}" type="pres">
      <dgm:prSet presAssocID="{7C1C31A8-FA54-4C2E-8AF3-27C186246CEF}" presName="spaceRect" presStyleCnt="0"/>
      <dgm:spPr/>
    </dgm:pt>
    <dgm:pt modelId="{F7BF8E4B-CBDE-483E-8244-328EE1683ECB}" type="pres">
      <dgm:prSet presAssocID="{7C1C31A8-FA54-4C2E-8AF3-27C186246CE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F7A1672-21B1-491E-B3F7-6903557878FB}" type="presOf" srcId="{AA192D39-2805-4413-9125-9218B6EEDE3A}" destId="{B249C65B-195C-4D77-B2BB-14DB1C675A56}" srcOrd="0" destOrd="0" presId="urn:microsoft.com/office/officeart/2018/2/layout/IconLabelList"/>
    <dgm:cxn modelId="{560F877A-660D-453A-ACBF-EB0C77BEB75C}" srcId="{3C693A52-E44E-4C32-8ABA-C2EAEAC568B5}" destId="{AA192D39-2805-4413-9125-9218B6EEDE3A}" srcOrd="1" destOrd="0" parTransId="{BD6252B7-3D2F-4A0F-8465-1CFB4E651EEE}" sibTransId="{FCE4B612-8632-4705-9204-C5524D72D3D2}"/>
    <dgm:cxn modelId="{14885E83-6B48-46CE-ABC0-4B2BE9028463}" type="presOf" srcId="{13A3A668-C700-4636-9FFE-3973EDEAEA0C}" destId="{B51601ED-DF6B-421B-B3B7-2FF29C3DEC6C}" srcOrd="0" destOrd="0" presId="urn:microsoft.com/office/officeart/2018/2/layout/IconLabelList"/>
    <dgm:cxn modelId="{82644EA5-22CA-4622-B77F-48C5B840CFDC}" srcId="{3C693A52-E44E-4C32-8ABA-C2EAEAC568B5}" destId="{7C1C31A8-FA54-4C2E-8AF3-27C186246CEF}" srcOrd="3" destOrd="0" parTransId="{4052463A-6EDA-4B51-89E1-6148412BBA5A}" sibTransId="{2C343E0E-A1E0-4AA4-9BB4-A9EFB7EFE8F6}"/>
    <dgm:cxn modelId="{FC1966B6-0B69-4647-8C95-A8983070934F}" srcId="{3C693A52-E44E-4C32-8ABA-C2EAEAC568B5}" destId="{13A3A668-C700-4636-9FFE-3973EDEAEA0C}" srcOrd="0" destOrd="0" parTransId="{078141C4-2583-419B-B709-BB0D0EDF5C0D}" sibTransId="{FE444194-CD94-4DD1-9D82-12A59176ABFC}"/>
    <dgm:cxn modelId="{AB1B87C1-45B9-41CE-A3C2-8677F67B979A}" type="presOf" srcId="{4BBC136A-E2FB-4051-95F9-A43B58BFF1E3}" destId="{23D49F27-4631-4D32-86B8-6B8A3365DE86}" srcOrd="0" destOrd="0" presId="urn:microsoft.com/office/officeart/2018/2/layout/IconLabelList"/>
    <dgm:cxn modelId="{2A1380C7-2EAA-4CF3-8F61-CA9497368C91}" srcId="{3C693A52-E44E-4C32-8ABA-C2EAEAC568B5}" destId="{4BBC136A-E2FB-4051-95F9-A43B58BFF1E3}" srcOrd="2" destOrd="0" parTransId="{DF66BEFB-27F2-4DA0-BD20-EC546C520ED8}" sibTransId="{49C58AA8-5EBC-46CA-BD23-789F2B104655}"/>
    <dgm:cxn modelId="{015568C8-E8FA-4350-BE0B-E7898B04DE9E}" type="presOf" srcId="{7C1C31A8-FA54-4C2E-8AF3-27C186246CEF}" destId="{F7BF8E4B-CBDE-483E-8244-328EE1683ECB}" srcOrd="0" destOrd="0" presId="urn:microsoft.com/office/officeart/2018/2/layout/IconLabelList"/>
    <dgm:cxn modelId="{BDB287FA-BDBB-4AC7-AED4-82F5962AA972}" type="presOf" srcId="{3C693A52-E44E-4C32-8ABA-C2EAEAC568B5}" destId="{D330EC1B-FA9C-4044-8965-34C78918A279}" srcOrd="0" destOrd="0" presId="urn:microsoft.com/office/officeart/2018/2/layout/IconLabelList"/>
    <dgm:cxn modelId="{80CE5A07-4B5D-4E21-9991-32253AA9D297}" type="presParOf" srcId="{D330EC1B-FA9C-4044-8965-34C78918A279}" destId="{AE98D89B-E061-4D3D-B8BB-21498E17AEFB}" srcOrd="0" destOrd="0" presId="urn:microsoft.com/office/officeart/2018/2/layout/IconLabelList"/>
    <dgm:cxn modelId="{73F43322-9B57-4703-AE7C-AC349A16B2BD}" type="presParOf" srcId="{AE98D89B-E061-4D3D-B8BB-21498E17AEFB}" destId="{C77E3A92-3D77-43F6-AF64-8437527644ED}" srcOrd="0" destOrd="0" presId="urn:microsoft.com/office/officeart/2018/2/layout/IconLabelList"/>
    <dgm:cxn modelId="{4E8B82E9-23D7-47B4-881C-2394389300E0}" type="presParOf" srcId="{AE98D89B-E061-4D3D-B8BB-21498E17AEFB}" destId="{7C3B5ECA-3E79-4411-A448-F0EE60CC0D4D}" srcOrd="1" destOrd="0" presId="urn:microsoft.com/office/officeart/2018/2/layout/IconLabelList"/>
    <dgm:cxn modelId="{1B488D20-6306-4236-9306-902B80C467BD}" type="presParOf" srcId="{AE98D89B-E061-4D3D-B8BB-21498E17AEFB}" destId="{B51601ED-DF6B-421B-B3B7-2FF29C3DEC6C}" srcOrd="2" destOrd="0" presId="urn:microsoft.com/office/officeart/2018/2/layout/IconLabelList"/>
    <dgm:cxn modelId="{B844D2B4-04F0-4379-A436-44B836922A87}" type="presParOf" srcId="{D330EC1B-FA9C-4044-8965-34C78918A279}" destId="{D1DA7439-47AA-486F-BF9F-6D6B21669E7D}" srcOrd="1" destOrd="0" presId="urn:microsoft.com/office/officeart/2018/2/layout/IconLabelList"/>
    <dgm:cxn modelId="{5DCF2C13-B098-4E09-B2AA-5DF3C65E03E8}" type="presParOf" srcId="{D330EC1B-FA9C-4044-8965-34C78918A279}" destId="{2A038CB3-54B6-4AEF-89CD-D81CBA3A7BAC}" srcOrd="2" destOrd="0" presId="urn:microsoft.com/office/officeart/2018/2/layout/IconLabelList"/>
    <dgm:cxn modelId="{0D6B9B95-92CE-42CC-A601-EEF223029B16}" type="presParOf" srcId="{2A038CB3-54B6-4AEF-89CD-D81CBA3A7BAC}" destId="{AF6C95C7-83BC-40A3-B3B8-9234084C94A0}" srcOrd="0" destOrd="0" presId="urn:microsoft.com/office/officeart/2018/2/layout/IconLabelList"/>
    <dgm:cxn modelId="{854BB571-52AC-45E3-AB2A-B049DA3F71B0}" type="presParOf" srcId="{2A038CB3-54B6-4AEF-89CD-D81CBA3A7BAC}" destId="{BF54F300-E16E-40A9-99DE-66E3FC4E43A8}" srcOrd="1" destOrd="0" presId="urn:microsoft.com/office/officeart/2018/2/layout/IconLabelList"/>
    <dgm:cxn modelId="{3B17552A-38DE-4A50-BC81-3B66DE4430D4}" type="presParOf" srcId="{2A038CB3-54B6-4AEF-89CD-D81CBA3A7BAC}" destId="{B249C65B-195C-4D77-B2BB-14DB1C675A56}" srcOrd="2" destOrd="0" presId="urn:microsoft.com/office/officeart/2018/2/layout/IconLabelList"/>
    <dgm:cxn modelId="{72CB6A17-D81B-4EA3-9865-6D317FE095F1}" type="presParOf" srcId="{D330EC1B-FA9C-4044-8965-34C78918A279}" destId="{182AE6B7-CFFD-43ED-85A3-0BD2B86E367A}" srcOrd="3" destOrd="0" presId="urn:microsoft.com/office/officeart/2018/2/layout/IconLabelList"/>
    <dgm:cxn modelId="{8510383F-8906-487D-A600-DD3BFC2F4A08}" type="presParOf" srcId="{D330EC1B-FA9C-4044-8965-34C78918A279}" destId="{1F731C5F-A484-4AC3-9092-148FAFDF3670}" srcOrd="4" destOrd="0" presId="urn:microsoft.com/office/officeart/2018/2/layout/IconLabelList"/>
    <dgm:cxn modelId="{5C978132-DD8C-4514-A964-6098AF6EB9CC}" type="presParOf" srcId="{1F731C5F-A484-4AC3-9092-148FAFDF3670}" destId="{17BF17FA-93BF-4F83-B291-C1F2A6E8F3BD}" srcOrd="0" destOrd="0" presId="urn:microsoft.com/office/officeart/2018/2/layout/IconLabelList"/>
    <dgm:cxn modelId="{68CCFA64-4819-4390-A9D6-AE7315F80A5A}" type="presParOf" srcId="{1F731C5F-A484-4AC3-9092-148FAFDF3670}" destId="{CF2D7324-B0D2-4918-BDD2-7ABE9D757296}" srcOrd="1" destOrd="0" presId="urn:microsoft.com/office/officeart/2018/2/layout/IconLabelList"/>
    <dgm:cxn modelId="{0BEB24E3-EE1A-4C58-8413-FB6B5EF724D6}" type="presParOf" srcId="{1F731C5F-A484-4AC3-9092-148FAFDF3670}" destId="{23D49F27-4631-4D32-86B8-6B8A3365DE86}" srcOrd="2" destOrd="0" presId="urn:microsoft.com/office/officeart/2018/2/layout/IconLabelList"/>
    <dgm:cxn modelId="{B8B0EAE6-7A3D-4334-B73D-D18C6D92EA7E}" type="presParOf" srcId="{D330EC1B-FA9C-4044-8965-34C78918A279}" destId="{3196FBB6-63A3-45E3-9804-781588F79EA5}" srcOrd="5" destOrd="0" presId="urn:microsoft.com/office/officeart/2018/2/layout/IconLabelList"/>
    <dgm:cxn modelId="{DFDBDA78-115B-4B70-9F47-9320155B7E72}" type="presParOf" srcId="{D330EC1B-FA9C-4044-8965-34C78918A279}" destId="{AAC824C6-60FB-42CA-BD19-D83BA52C207C}" srcOrd="6" destOrd="0" presId="urn:microsoft.com/office/officeart/2018/2/layout/IconLabelList"/>
    <dgm:cxn modelId="{992211DE-D90A-464B-807D-88E2A49C7B27}" type="presParOf" srcId="{AAC824C6-60FB-42CA-BD19-D83BA52C207C}" destId="{BE50062B-695F-4D59-B745-A1D4C8860C21}" srcOrd="0" destOrd="0" presId="urn:microsoft.com/office/officeart/2018/2/layout/IconLabelList"/>
    <dgm:cxn modelId="{25DDBAA6-6619-4658-A3F6-0F56B456AC92}" type="presParOf" srcId="{AAC824C6-60FB-42CA-BD19-D83BA52C207C}" destId="{45400B8E-B2C8-4B9E-B59C-DADFCB2DB165}" srcOrd="1" destOrd="0" presId="urn:microsoft.com/office/officeart/2018/2/layout/IconLabelList"/>
    <dgm:cxn modelId="{464EEC2C-CA97-4AAE-B351-49D4148AD30C}" type="presParOf" srcId="{AAC824C6-60FB-42CA-BD19-D83BA52C207C}" destId="{F7BF8E4B-CBDE-483E-8244-328EE1683EC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7E3A92-3D77-43F6-AF64-8437527644ED}">
      <dsp:nvSpPr>
        <dsp:cNvPr id="0" name=""/>
        <dsp:cNvSpPr/>
      </dsp:nvSpPr>
      <dsp:spPr>
        <a:xfrm>
          <a:off x="888345" y="447462"/>
          <a:ext cx="925159" cy="9251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1601ED-DF6B-421B-B3B7-2FF29C3DEC6C}">
      <dsp:nvSpPr>
        <dsp:cNvPr id="0" name=""/>
        <dsp:cNvSpPr/>
      </dsp:nvSpPr>
      <dsp:spPr>
        <a:xfrm>
          <a:off x="343064" y="1757641"/>
          <a:ext cx="2055910" cy="7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" panose="020B0004020202020204" pitchFamily="34" charset="0"/>
            </a:rPr>
            <a:t>Config files define receipts, locations and assignment rules.</a:t>
          </a:r>
        </a:p>
      </dsp:txBody>
      <dsp:txXfrm>
        <a:off x="343064" y="1757641"/>
        <a:ext cx="2055910" cy="765000"/>
      </dsp:txXfrm>
    </dsp:sp>
    <dsp:sp modelId="{AF6C95C7-83BC-40A3-B3B8-9234084C94A0}">
      <dsp:nvSpPr>
        <dsp:cNvPr id="0" name=""/>
        <dsp:cNvSpPr/>
      </dsp:nvSpPr>
      <dsp:spPr>
        <a:xfrm>
          <a:off x="3324134" y="533983"/>
          <a:ext cx="925159" cy="9251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49C65B-195C-4D77-B2BB-14DB1C675A56}">
      <dsp:nvSpPr>
        <dsp:cNvPr id="0" name=""/>
        <dsp:cNvSpPr/>
      </dsp:nvSpPr>
      <dsp:spPr>
        <a:xfrm>
          <a:off x="2758758" y="1757641"/>
          <a:ext cx="2055910" cy="7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" panose="020B0004020202020204" pitchFamily="34" charset="0"/>
            </a:rPr>
            <a:t>Bash scripts build the runtime snapshots and validation logs.</a:t>
          </a:r>
        </a:p>
      </dsp:txBody>
      <dsp:txXfrm>
        <a:off x="2758758" y="1757641"/>
        <a:ext cx="2055910" cy="765000"/>
      </dsp:txXfrm>
    </dsp:sp>
    <dsp:sp modelId="{17BF17FA-93BF-4F83-B291-C1F2A6E8F3BD}">
      <dsp:nvSpPr>
        <dsp:cNvPr id="0" name=""/>
        <dsp:cNvSpPr/>
      </dsp:nvSpPr>
      <dsp:spPr>
        <a:xfrm>
          <a:off x="5739828" y="533983"/>
          <a:ext cx="925159" cy="9251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D49F27-4631-4D32-86B8-6B8A3365DE86}">
      <dsp:nvSpPr>
        <dsp:cNvPr id="0" name=""/>
        <dsp:cNvSpPr/>
      </dsp:nvSpPr>
      <dsp:spPr>
        <a:xfrm>
          <a:off x="5174453" y="1757641"/>
          <a:ext cx="2055910" cy="7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Aptos" panose="020B0004020202020204" pitchFamily="34" charset="0"/>
            </a:rPr>
            <a:t>Oracle tables store the receipt, pallets, locations, status events, and calculates available storage capacity</a:t>
          </a:r>
        </a:p>
      </dsp:txBody>
      <dsp:txXfrm>
        <a:off x="5174453" y="1757641"/>
        <a:ext cx="2055910" cy="765000"/>
      </dsp:txXfrm>
    </dsp:sp>
    <dsp:sp modelId="{BE50062B-695F-4D59-B745-A1D4C8860C21}">
      <dsp:nvSpPr>
        <dsp:cNvPr id="0" name=""/>
        <dsp:cNvSpPr/>
      </dsp:nvSpPr>
      <dsp:spPr>
        <a:xfrm>
          <a:off x="8155522" y="533983"/>
          <a:ext cx="925159" cy="925159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BF8E4B-CBDE-483E-8244-328EE1683ECB}">
      <dsp:nvSpPr>
        <dsp:cNvPr id="0" name=""/>
        <dsp:cNvSpPr/>
      </dsp:nvSpPr>
      <dsp:spPr>
        <a:xfrm>
          <a:off x="7590147" y="1757641"/>
          <a:ext cx="2055910" cy="7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>
              <a:latin typeface="Aptos" panose="020B0004020202020204" pitchFamily="34" charset="0"/>
            </a:rPr>
            <a:t>Verifies the priority placement rule for high-quantity pallets.</a:t>
          </a:r>
          <a:endParaRPr lang="en-US" sz="1400" kern="1200" dirty="0">
            <a:latin typeface="Aptos" panose="020B0004020202020204" pitchFamily="34" charset="0"/>
          </a:endParaRPr>
        </a:p>
      </dsp:txBody>
      <dsp:txXfrm>
        <a:off x="7590147" y="1757641"/>
        <a:ext cx="2055910" cy="765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735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313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670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880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66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204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461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247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l-GR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457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Τίτλος και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111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Εισαγωγικά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405299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Κάρτα ονόματ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4552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Κάρτα ονόματος με φρά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2771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ή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7456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3928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432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260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31331"/>
            <a:ext cx="12191695" cy="1051560"/>
          </a:xfrm>
          <a:prstGeom prst="rect">
            <a:avLst/>
          </a:prstGeom>
          <a:solidFill>
            <a:srgbClr val="0F1F2D"/>
          </a:solidFill>
          <a:ln>
            <a:solidFill>
              <a:srgbClr val="0F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266489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dirty="0">
                <a:solidFill>
                  <a:srgbClr val="FFFFFF"/>
                </a:solidFill>
                <a:latin typeface="Aptos"/>
              </a:rPr>
              <a:t>FINAL TEAM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45713"/>
            <a:ext cx="7623434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 dirty="0" err="1">
                <a:solidFill>
                  <a:srgbClr val="0F1F2D"/>
                </a:solidFill>
                <a:latin typeface="Aptos"/>
              </a:rPr>
              <a:t>FlowCore</a:t>
            </a:r>
            <a:r>
              <a:rPr sz="4400" b="1" dirty="0">
                <a:solidFill>
                  <a:srgbClr val="0F1F2D"/>
                </a:solidFill>
                <a:latin typeface="Aptos"/>
              </a:rPr>
              <a:t> Warehouse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2510028"/>
            <a:ext cx="1645920" cy="50292"/>
          </a:xfrm>
          <a:prstGeom prst="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6656" y="2738347"/>
            <a:ext cx="672581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dirty="0">
                <a:solidFill>
                  <a:srgbClr val="181E23"/>
                </a:solidFill>
                <a:latin typeface="Aptos"/>
              </a:rPr>
              <a:t>Inbound warehouse commissioning simulation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5913792"/>
            <a:ext cx="687534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000" b="1" dirty="0">
                <a:solidFill>
                  <a:srgbClr val="0F1F2D"/>
                </a:solidFill>
                <a:latin typeface="Aptos"/>
              </a:rPr>
              <a:t>Panagiotis Pontikeas Eftychiadis &amp; Arsenios </a:t>
            </a:r>
            <a:r>
              <a:rPr lang="en-US" sz="2000" b="1" dirty="0" err="1">
                <a:solidFill>
                  <a:srgbClr val="0F1F2D"/>
                </a:solidFill>
                <a:latin typeface="Aptos"/>
              </a:rPr>
              <a:t>Diamantakos</a:t>
            </a:r>
            <a:endParaRPr sz="2000" b="1" dirty="0">
              <a:solidFill>
                <a:srgbClr val="0F1F2D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0590" y="466344"/>
            <a:ext cx="220925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400" b="1" dirty="0">
                <a:solidFill>
                  <a:srgbClr val="0F1F2D"/>
                </a:solidFill>
                <a:latin typeface="Aptos"/>
              </a:rPr>
              <a:t>Chosen Scope</a:t>
            </a:r>
            <a:endParaRPr sz="2400" b="1" dirty="0">
              <a:solidFill>
                <a:srgbClr val="0F1F2D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7258" y="960480"/>
            <a:ext cx="1051560" cy="41148"/>
          </a:xfrm>
          <a:prstGeom prst="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211179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dirty="0" err="1">
                <a:solidFill>
                  <a:srgbClr val="5F6970"/>
                </a:solidFill>
                <a:latin typeface="Aptos"/>
              </a:rPr>
              <a:t>FlowCore</a:t>
            </a:r>
            <a:r>
              <a:rPr sz="1200" b="0" dirty="0">
                <a:solidFill>
                  <a:srgbClr val="5F6970"/>
                </a:solidFill>
                <a:latin typeface="Aptos"/>
              </a:rPr>
              <a:t> Warehouse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590" y="1430310"/>
            <a:ext cx="9875520" cy="308802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181E23"/>
                </a:solidFill>
                <a:latin typeface="Aptos"/>
              </a:defRPr>
            </a:pPr>
            <a:r>
              <a:rPr lang="en-US" sz="2400" dirty="0" err="1">
                <a:latin typeface="gg sans"/>
              </a:rPr>
              <a:t>FlowCore</a:t>
            </a:r>
            <a:r>
              <a:rPr lang="en-US" sz="2400" dirty="0">
                <a:latin typeface="gg sans"/>
              </a:rPr>
              <a:t> simulates a small inbound warehouse process </a:t>
            </a:r>
            <a:endParaRPr lang="en-US" sz="24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181E23"/>
                </a:solidFill>
                <a:latin typeface="Aptos"/>
              </a:defRPr>
            </a:pPr>
            <a:r>
              <a:rPr lang="en-US" sz="2400" dirty="0"/>
              <a:t>Incoming goods arrive at the inbound dock and represented as pallets</a:t>
            </a:r>
            <a:endParaRPr lang="en-US" sz="2400" b="1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181E23"/>
                </a:solidFill>
                <a:latin typeface="Aptos"/>
              </a:defRPr>
            </a:pPr>
            <a:r>
              <a:rPr lang="en-US" sz="2400" dirty="0"/>
              <a:t>They are later assigned and stored to one valid warehouse location</a:t>
            </a:r>
            <a:endParaRPr lang="en-US" sz="2400" b="1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181E23"/>
                </a:solidFill>
                <a:latin typeface="Aptos"/>
              </a:defRPr>
            </a:pPr>
            <a:r>
              <a:rPr lang="en-US" sz="2400" dirty="0"/>
              <a:t>Event records are created to capture each pallet through the inbound flow</a:t>
            </a:r>
            <a:endParaRPr lang="en-US" sz="2400" b="1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181E23"/>
                </a:solidFill>
                <a:latin typeface="Aptos"/>
              </a:defRPr>
            </a:pPr>
            <a:r>
              <a:rPr lang="en-US" sz="2400" dirty="0"/>
              <a:t>Validation checks are performed to check that everything worked as expected</a:t>
            </a:r>
            <a:endParaRPr lang="en-US" sz="24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8475" y="575631"/>
            <a:ext cx="276870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dirty="0">
                <a:solidFill>
                  <a:srgbClr val="0F1F2D"/>
                </a:solidFill>
                <a:latin typeface="Aptos"/>
              </a:rPr>
              <a:t>Business Scenario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30"/>
            <a:ext cx="1051560" cy="41148"/>
          </a:xfrm>
          <a:prstGeom prst="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23760" y="1915668"/>
            <a:ext cx="4389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4114" y="3376442"/>
            <a:ext cx="10241280" cy="163121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81E23"/>
                </a:solidFill>
                <a:latin typeface="Aptos"/>
              </a:defRPr>
            </a:pPr>
            <a:r>
              <a:rPr sz="2000" dirty="0"/>
              <a:t>Receipt RCV-1001 arrives at DOCK-01.</a:t>
            </a:r>
          </a:p>
          <a:p>
            <a:pPr>
              <a:spcAft>
                <a:spcPts val="800"/>
              </a:spcAft>
              <a:defRPr sz="1600">
                <a:solidFill>
                  <a:srgbClr val="181E23"/>
                </a:solidFill>
                <a:latin typeface="Aptos"/>
              </a:defRPr>
            </a:pPr>
            <a:r>
              <a:rPr sz="2000" dirty="0"/>
              <a:t>Three pallets are assigned to valid warehouse locations.</a:t>
            </a:r>
          </a:p>
          <a:p>
            <a:pPr>
              <a:spcAft>
                <a:spcPts val="800"/>
              </a:spcAft>
              <a:defRPr sz="1600">
                <a:solidFill>
                  <a:srgbClr val="181E23"/>
                </a:solidFill>
                <a:latin typeface="Aptos"/>
              </a:defRPr>
            </a:pPr>
            <a:r>
              <a:rPr sz="2000" dirty="0"/>
              <a:t>The expected final state is STORED for all pallets.</a:t>
            </a:r>
          </a:p>
          <a:p>
            <a:pPr>
              <a:spcAft>
                <a:spcPts val="800"/>
              </a:spcAft>
              <a:defRPr sz="1600">
                <a:solidFill>
                  <a:srgbClr val="181E23"/>
                </a:solidFill>
                <a:latin typeface="Aptos"/>
              </a:defRPr>
            </a:pPr>
            <a:r>
              <a:rPr sz="2000" dirty="0"/>
              <a:t>The baseline result is 3 pallets, 9 status events and 0 capacity violations.</a:t>
            </a:r>
          </a:p>
        </p:txBody>
      </p:sp>
      <p:sp>
        <p:nvSpPr>
          <p:cNvPr id="111" name="Rounded Rectangle 10">
            <a:extLst>
              <a:ext uri="{FF2B5EF4-FFF2-40B4-BE49-F238E27FC236}">
                <a16:creationId xmlns:a16="http://schemas.microsoft.com/office/drawing/2014/main" id="{42FC7214-C634-C5FC-0AE3-E95FF75D083E}"/>
              </a:ext>
            </a:extLst>
          </p:cNvPr>
          <p:cNvSpPr/>
          <p:nvPr/>
        </p:nvSpPr>
        <p:spPr>
          <a:xfrm>
            <a:off x="826159" y="1627632"/>
            <a:ext cx="1813341" cy="1158474"/>
          </a:xfrm>
          <a:prstGeom prst="roundRect">
            <a:avLst/>
          </a:prstGeom>
          <a:solidFill>
            <a:srgbClr val="F2F7F2"/>
          </a:solidFill>
          <a:ln>
            <a:solidFill>
              <a:srgbClr val="50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9F2FE58E-7D41-480E-B234-7DB5F02CA2F0}"/>
              </a:ext>
            </a:extLst>
          </p:cNvPr>
          <p:cNvSpPr txBox="1"/>
          <p:nvPr/>
        </p:nvSpPr>
        <p:spPr>
          <a:xfrm>
            <a:off x="935888" y="1975279"/>
            <a:ext cx="15006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0F2D46"/>
                </a:solidFill>
                <a:latin typeface="Aptos"/>
              </a:rPr>
              <a:t>Receive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F5DF81F6-68D8-F314-2172-8CC2A856EF19}"/>
              </a:ext>
            </a:extLst>
          </p:cNvPr>
          <p:cNvSpPr txBox="1"/>
          <p:nvPr/>
        </p:nvSpPr>
        <p:spPr>
          <a:xfrm>
            <a:off x="935888" y="2313607"/>
            <a:ext cx="15006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dirty="0">
                <a:solidFill>
                  <a:srgbClr val="5F696E"/>
                </a:solidFill>
                <a:latin typeface="Aptos"/>
              </a:rPr>
              <a:t>DOCK-01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92931182-F97E-7D58-FC82-E9E1E55C1CEF}"/>
              </a:ext>
            </a:extLst>
          </p:cNvPr>
          <p:cNvSpPr txBox="1"/>
          <p:nvPr/>
        </p:nvSpPr>
        <p:spPr>
          <a:xfrm>
            <a:off x="2197759" y="2118524"/>
            <a:ext cx="43770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50912D"/>
                </a:solidFill>
                <a:latin typeface="Aptos"/>
              </a:rPr>
              <a:t>-&gt;</a:t>
            </a:r>
          </a:p>
        </p:txBody>
      </p:sp>
      <p:sp>
        <p:nvSpPr>
          <p:cNvPr id="115" name="Rounded Rectangle 14">
            <a:extLst>
              <a:ext uri="{FF2B5EF4-FFF2-40B4-BE49-F238E27FC236}">
                <a16:creationId xmlns:a16="http://schemas.microsoft.com/office/drawing/2014/main" id="{794F6649-C65E-2856-5413-2DAFD6826EEA}"/>
              </a:ext>
            </a:extLst>
          </p:cNvPr>
          <p:cNvSpPr/>
          <p:nvPr/>
        </p:nvSpPr>
        <p:spPr>
          <a:xfrm>
            <a:off x="2545231" y="1627632"/>
            <a:ext cx="1813341" cy="1158474"/>
          </a:xfrm>
          <a:prstGeom prst="roundRect">
            <a:avLst/>
          </a:prstGeom>
          <a:solidFill>
            <a:srgbClr val="F2F7F2"/>
          </a:solidFill>
          <a:ln>
            <a:solidFill>
              <a:srgbClr val="50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658E84A7-9BB4-8C77-6ECC-D901DF3C6510}"/>
              </a:ext>
            </a:extLst>
          </p:cNvPr>
          <p:cNvSpPr txBox="1"/>
          <p:nvPr/>
        </p:nvSpPr>
        <p:spPr>
          <a:xfrm>
            <a:off x="2654960" y="1975279"/>
            <a:ext cx="15006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2D46"/>
                </a:solidFill>
                <a:latin typeface="Aptos"/>
              </a:rPr>
              <a:t>Assign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BCA12C15-F24C-1443-555C-1A8ED43410A2}"/>
              </a:ext>
            </a:extLst>
          </p:cNvPr>
          <p:cNvSpPr txBox="1"/>
          <p:nvPr/>
        </p:nvSpPr>
        <p:spPr>
          <a:xfrm>
            <a:off x="2654960" y="2313607"/>
            <a:ext cx="15006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F696E"/>
                </a:solidFill>
                <a:latin typeface="Aptos"/>
              </a:rPr>
              <a:t>Location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5761B4B2-45A9-C313-A90F-5E3324AF5FE3}"/>
              </a:ext>
            </a:extLst>
          </p:cNvPr>
          <p:cNvSpPr txBox="1"/>
          <p:nvPr/>
        </p:nvSpPr>
        <p:spPr>
          <a:xfrm>
            <a:off x="3916831" y="2118524"/>
            <a:ext cx="43770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50912D"/>
                </a:solidFill>
                <a:latin typeface="Aptos"/>
              </a:rPr>
              <a:t>-&gt;</a:t>
            </a:r>
          </a:p>
        </p:txBody>
      </p:sp>
      <p:sp>
        <p:nvSpPr>
          <p:cNvPr id="119" name="Rounded Rectangle 18">
            <a:extLst>
              <a:ext uri="{FF2B5EF4-FFF2-40B4-BE49-F238E27FC236}">
                <a16:creationId xmlns:a16="http://schemas.microsoft.com/office/drawing/2014/main" id="{EF3E0EBE-632C-BCED-618C-EF8DB7C22281}"/>
              </a:ext>
            </a:extLst>
          </p:cNvPr>
          <p:cNvSpPr/>
          <p:nvPr/>
        </p:nvSpPr>
        <p:spPr>
          <a:xfrm>
            <a:off x="4264303" y="1627632"/>
            <a:ext cx="1813341" cy="1158474"/>
          </a:xfrm>
          <a:prstGeom prst="roundRect">
            <a:avLst/>
          </a:prstGeom>
          <a:solidFill>
            <a:srgbClr val="F2F7F2"/>
          </a:solidFill>
          <a:ln>
            <a:solidFill>
              <a:srgbClr val="50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04A1C90B-C3FE-319B-F2A8-0CFC2C5A889C}"/>
              </a:ext>
            </a:extLst>
          </p:cNvPr>
          <p:cNvSpPr txBox="1"/>
          <p:nvPr/>
        </p:nvSpPr>
        <p:spPr>
          <a:xfrm>
            <a:off x="4374032" y="1975279"/>
            <a:ext cx="15006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0F2D46"/>
                </a:solidFill>
                <a:latin typeface="Aptos"/>
              </a:rPr>
              <a:t>Store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8743DB79-B3A6-287A-1C38-0C832C77166E}"/>
              </a:ext>
            </a:extLst>
          </p:cNvPr>
          <p:cNvSpPr txBox="1"/>
          <p:nvPr/>
        </p:nvSpPr>
        <p:spPr>
          <a:xfrm>
            <a:off x="4374032" y="2313607"/>
            <a:ext cx="15006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F696E"/>
                </a:solidFill>
                <a:latin typeface="Aptos"/>
              </a:rPr>
              <a:t>Pallet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65777DA7-DD7A-DFF8-8255-DE548E08B022}"/>
              </a:ext>
            </a:extLst>
          </p:cNvPr>
          <p:cNvSpPr txBox="1"/>
          <p:nvPr/>
        </p:nvSpPr>
        <p:spPr>
          <a:xfrm>
            <a:off x="5635903" y="2118524"/>
            <a:ext cx="43770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50912D"/>
                </a:solidFill>
                <a:latin typeface="Aptos"/>
              </a:rPr>
              <a:t>-&gt;</a:t>
            </a:r>
          </a:p>
        </p:txBody>
      </p:sp>
      <p:sp>
        <p:nvSpPr>
          <p:cNvPr id="123" name="Rounded Rectangle 22">
            <a:extLst>
              <a:ext uri="{FF2B5EF4-FFF2-40B4-BE49-F238E27FC236}">
                <a16:creationId xmlns:a16="http://schemas.microsoft.com/office/drawing/2014/main" id="{446C9160-AEEC-0D9E-849D-857A763917DA}"/>
              </a:ext>
            </a:extLst>
          </p:cNvPr>
          <p:cNvSpPr/>
          <p:nvPr/>
        </p:nvSpPr>
        <p:spPr>
          <a:xfrm>
            <a:off x="5983375" y="1627632"/>
            <a:ext cx="1813341" cy="1158474"/>
          </a:xfrm>
          <a:prstGeom prst="roundRect">
            <a:avLst/>
          </a:prstGeom>
          <a:solidFill>
            <a:srgbClr val="F2F7F2"/>
          </a:solidFill>
          <a:ln>
            <a:solidFill>
              <a:srgbClr val="50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083A6848-4B77-7957-B00A-6980270843F8}"/>
              </a:ext>
            </a:extLst>
          </p:cNvPr>
          <p:cNvSpPr txBox="1"/>
          <p:nvPr/>
        </p:nvSpPr>
        <p:spPr>
          <a:xfrm>
            <a:off x="6093104" y="1975279"/>
            <a:ext cx="15006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2D46"/>
                </a:solidFill>
                <a:latin typeface="Aptos"/>
              </a:rPr>
              <a:t>Record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4E28E223-FBAB-3C6F-91D4-504295C451DE}"/>
              </a:ext>
            </a:extLst>
          </p:cNvPr>
          <p:cNvSpPr txBox="1"/>
          <p:nvPr/>
        </p:nvSpPr>
        <p:spPr>
          <a:xfrm>
            <a:off x="6093104" y="2313607"/>
            <a:ext cx="15006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dirty="0">
                <a:solidFill>
                  <a:srgbClr val="5F696E"/>
                </a:solidFill>
                <a:latin typeface="Aptos"/>
              </a:rPr>
              <a:t>Evidence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AB91FFE6-4991-4834-6BEB-1B96C799498F}"/>
              </a:ext>
            </a:extLst>
          </p:cNvPr>
          <p:cNvSpPr txBox="1"/>
          <p:nvPr/>
        </p:nvSpPr>
        <p:spPr>
          <a:xfrm>
            <a:off x="7354975" y="2118524"/>
            <a:ext cx="43770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50912D"/>
                </a:solidFill>
                <a:latin typeface="Aptos"/>
              </a:rPr>
              <a:t>-&gt;</a:t>
            </a:r>
          </a:p>
        </p:txBody>
      </p:sp>
      <p:sp>
        <p:nvSpPr>
          <p:cNvPr id="127" name="Rounded Rectangle 26">
            <a:extLst>
              <a:ext uri="{FF2B5EF4-FFF2-40B4-BE49-F238E27FC236}">
                <a16:creationId xmlns:a16="http://schemas.microsoft.com/office/drawing/2014/main" id="{44AA1813-4EE3-0257-8018-CD9880239C9D}"/>
              </a:ext>
            </a:extLst>
          </p:cNvPr>
          <p:cNvSpPr/>
          <p:nvPr/>
        </p:nvSpPr>
        <p:spPr>
          <a:xfrm>
            <a:off x="7702447" y="1627632"/>
            <a:ext cx="1813341" cy="1158474"/>
          </a:xfrm>
          <a:prstGeom prst="roundRect">
            <a:avLst/>
          </a:prstGeom>
          <a:solidFill>
            <a:srgbClr val="F2F7F2"/>
          </a:solidFill>
          <a:ln>
            <a:solidFill>
              <a:srgbClr val="50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11143967-1EDC-6DA4-D14E-95B65359D267}"/>
              </a:ext>
            </a:extLst>
          </p:cNvPr>
          <p:cNvSpPr txBox="1"/>
          <p:nvPr/>
        </p:nvSpPr>
        <p:spPr>
          <a:xfrm>
            <a:off x="7812175" y="1975279"/>
            <a:ext cx="15006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2D46"/>
                </a:solidFill>
                <a:latin typeface="Aptos"/>
              </a:rPr>
              <a:t>Validate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080CBFDA-F8AD-9505-2310-2AF600E10994}"/>
              </a:ext>
            </a:extLst>
          </p:cNvPr>
          <p:cNvSpPr txBox="1"/>
          <p:nvPr/>
        </p:nvSpPr>
        <p:spPr>
          <a:xfrm>
            <a:off x="7812175" y="2313607"/>
            <a:ext cx="15006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F696E"/>
                </a:solidFill>
                <a:latin typeface="Aptos"/>
              </a:rPr>
              <a:t>Proof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59B7B3A3-7A50-1294-3813-1B85F966BEE2}"/>
              </a:ext>
            </a:extLst>
          </p:cNvPr>
          <p:cNvSpPr txBox="1"/>
          <p:nvPr/>
        </p:nvSpPr>
        <p:spPr>
          <a:xfrm>
            <a:off x="502920" y="6471081"/>
            <a:ext cx="61043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0" dirty="0" err="1">
                <a:solidFill>
                  <a:srgbClr val="5F6970"/>
                </a:solidFill>
                <a:latin typeface="Aptos"/>
              </a:rPr>
              <a:t>FlowCore</a:t>
            </a:r>
            <a:r>
              <a:rPr lang="en-US" sz="1200" b="0" dirty="0">
                <a:solidFill>
                  <a:srgbClr val="5F6970"/>
                </a:solidFill>
                <a:latin typeface="Aptos"/>
              </a:rPr>
              <a:t> Warehouse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4464" y="581755"/>
            <a:ext cx="424712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dirty="0">
                <a:solidFill>
                  <a:srgbClr val="0F1F2D"/>
                </a:solidFill>
                <a:latin typeface="Aptos"/>
              </a:rPr>
              <a:t>Implementation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70916" y="1048998"/>
            <a:ext cx="1051560" cy="41148"/>
          </a:xfrm>
          <a:prstGeom prst="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211179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dirty="0" err="1">
                <a:solidFill>
                  <a:srgbClr val="5F6970"/>
                </a:solidFill>
                <a:latin typeface="Aptos"/>
              </a:rPr>
              <a:t>FlowCore</a:t>
            </a:r>
            <a:r>
              <a:rPr sz="1200" b="0" dirty="0">
                <a:solidFill>
                  <a:srgbClr val="5F6970"/>
                </a:solidFill>
                <a:latin typeface="Aptos"/>
              </a:rPr>
              <a:t> Warehouse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915668"/>
            <a:ext cx="4389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1915668"/>
            <a:ext cx="4389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1915668"/>
            <a:ext cx="4389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1915668"/>
            <a:ext cx="4389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38854" y="3003742"/>
            <a:ext cx="8957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0F1F2D"/>
                </a:solidFill>
                <a:latin typeface="Aptos"/>
              </a:rPr>
              <a:t>C++ </a:t>
            </a:r>
          </a:p>
        </p:txBody>
      </p:sp>
      <p:graphicFrame>
        <p:nvGraphicFramePr>
          <p:cNvPr id="28" name="TextBox 25">
            <a:extLst>
              <a:ext uri="{FF2B5EF4-FFF2-40B4-BE49-F238E27FC236}">
                <a16:creationId xmlns:a16="http://schemas.microsoft.com/office/drawing/2014/main" id="{46AB8680-9891-30B2-8D26-E90C8D9518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0598437"/>
              </p:ext>
            </p:extLst>
          </p:nvPr>
        </p:nvGraphicFramePr>
        <p:xfrm>
          <a:off x="299815" y="1633165"/>
          <a:ext cx="9989122" cy="3056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D053A251-4B7F-5E7E-EFF9-7F7DB1E055B8}"/>
              </a:ext>
            </a:extLst>
          </p:cNvPr>
          <p:cNvSpPr txBox="1"/>
          <p:nvPr/>
        </p:nvSpPr>
        <p:spPr>
          <a:xfrm>
            <a:off x="1039379" y="3059668"/>
            <a:ext cx="1292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Config CSV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230EC0F-3894-3057-5B9A-4582888D72AE}"/>
              </a:ext>
            </a:extLst>
          </p:cNvPr>
          <p:cNvSpPr txBox="1"/>
          <p:nvPr/>
        </p:nvSpPr>
        <p:spPr>
          <a:xfrm>
            <a:off x="3388514" y="3069189"/>
            <a:ext cx="1544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Bash runtime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E3E684-0F00-F705-54FE-3128B3EA0C5C}"/>
              </a:ext>
            </a:extLst>
          </p:cNvPr>
          <p:cNvSpPr txBox="1"/>
          <p:nvPr/>
        </p:nvSpPr>
        <p:spPr>
          <a:xfrm>
            <a:off x="5747111" y="3071025"/>
            <a:ext cx="1610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SQL &amp; PL/SQL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50470F-0FEF-98EA-FC95-2E132AFDC7EE}"/>
              </a:ext>
            </a:extLst>
          </p:cNvPr>
          <p:cNvSpPr txBox="1"/>
          <p:nvPr/>
        </p:nvSpPr>
        <p:spPr>
          <a:xfrm>
            <a:off x="572728" y="414194"/>
            <a:ext cx="6100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dirty="0">
                <a:solidFill>
                  <a:srgbClr val="0F1F2D"/>
                </a:solidFill>
                <a:latin typeface="Aptos"/>
              </a:rPr>
              <a:t>Bash Runtime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F46AF8-01C3-2594-0209-FB291625DB58}"/>
              </a:ext>
            </a:extLst>
          </p:cNvPr>
          <p:cNvSpPr/>
          <p:nvPr/>
        </p:nvSpPr>
        <p:spPr>
          <a:xfrm>
            <a:off x="720212" y="934525"/>
            <a:ext cx="1051560" cy="41148"/>
          </a:xfrm>
          <a:prstGeom prst="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Εικόνα 9">
            <a:extLst>
              <a:ext uri="{FF2B5EF4-FFF2-40B4-BE49-F238E27FC236}">
                <a16:creationId xmlns:a16="http://schemas.microsoft.com/office/drawing/2014/main" id="{2FD6E2B8-701D-BEEF-97A3-376ACCCF05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2338"/>
          <a:stretch>
            <a:fillRect/>
          </a:stretch>
        </p:blipFill>
        <p:spPr>
          <a:xfrm>
            <a:off x="572728" y="1278194"/>
            <a:ext cx="9179858" cy="242375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CD3E8DD-6D1A-6DC9-969A-45D5ADC62A22}"/>
              </a:ext>
            </a:extLst>
          </p:cNvPr>
          <p:cNvSpPr txBox="1"/>
          <p:nvPr/>
        </p:nvSpPr>
        <p:spPr>
          <a:xfrm>
            <a:off x="572728" y="3904112"/>
            <a:ext cx="917985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setup_demo.sh prepares the environment and runtime folders  </a:t>
            </a:r>
            <a:br>
              <a:rPr lang="en-US" sz="2000" dirty="0">
                <a:latin typeface="Aptos" panose="020B0004020202020204" pitchFamily="34" charset="0"/>
              </a:rPr>
            </a:br>
            <a:endParaRPr lang="en-US" sz="2000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run_demo.sh executes the selected inbound scenario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The C++ script also runs from the same terminal</a:t>
            </a:r>
          </a:p>
          <a:p>
            <a:endParaRPr lang="en-US" sz="2000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validate_demo.sh checks whether the final state matches the expected result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CEB30A-3F29-BEC8-3F13-D939AD55531B}"/>
              </a:ext>
            </a:extLst>
          </p:cNvPr>
          <p:cNvSpPr txBox="1"/>
          <p:nvPr/>
        </p:nvSpPr>
        <p:spPr>
          <a:xfrm>
            <a:off x="503902" y="6477185"/>
            <a:ext cx="61009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0" dirty="0" err="1">
                <a:solidFill>
                  <a:srgbClr val="5F6970"/>
                </a:solidFill>
                <a:latin typeface="Aptos"/>
              </a:rPr>
              <a:t>FlowCore</a:t>
            </a:r>
            <a:r>
              <a:rPr lang="en-US" sz="1200" b="0" dirty="0">
                <a:solidFill>
                  <a:srgbClr val="5F6970"/>
                </a:solidFill>
                <a:latin typeface="Aptos"/>
              </a:rPr>
              <a:t> Warehouse Project</a:t>
            </a:r>
          </a:p>
        </p:txBody>
      </p:sp>
    </p:spTree>
    <p:extLst>
      <p:ext uri="{BB962C8B-B14F-4D97-AF65-F5344CB8AC3E}">
        <p14:creationId xmlns:p14="http://schemas.microsoft.com/office/powerpoint/2010/main" val="4100729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714E80-577E-1117-30B0-D60B3256BDB0}"/>
              </a:ext>
            </a:extLst>
          </p:cNvPr>
          <p:cNvSpPr txBox="1"/>
          <p:nvPr/>
        </p:nvSpPr>
        <p:spPr>
          <a:xfrm>
            <a:off x="481781" y="295418"/>
            <a:ext cx="36486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ptos" panose="020B0004020202020204" pitchFamily="34" charset="0"/>
              </a:rPr>
              <a:t>Generated CSV evidence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576B86F-19EE-7798-0B6A-A2D5C8EADFBA}"/>
              </a:ext>
            </a:extLst>
          </p:cNvPr>
          <p:cNvSpPr/>
          <p:nvPr/>
        </p:nvSpPr>
        <p:spPr>
          <a:xfrm>
            <a:off x="572729" y="777208"/>
            <a:ext cx="1051560" cy="41148"/>
          </a:xfrm>
          <a:prstGeom prst="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12" descr="Screenshot_7.png">
            <a:extLst>
              <a:ext uri="{FF2B5EF4-FFF2-40B4-BE49-F238E27FC236}">
                <a16:creationId xmlns:a16="http://schemas.microsoft.com/office/drawing/2014/main" id="{4A140F71-E592-9905-43BF-107262C12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28" y="1572275"/>
            <a:ext cx="8738419" cy="1409423"/>
          </a:xfrm>
          <a:prstGeom prst="rect">
            <a:avLst/>
          </a:prstGeom>
        </p:spPr>
      </p:pic>
      <p:pic>
        <p:nvPicPr>
          <p:cNvPr id="5" name="Picture 15" descr="Screenshot_8.png">
            <a:extLst>
              <a:ext uri="{FF2B5EF4-FFF2-40B4-BE49-F238E27FC236}">
                <a16:creationId xmlns:a16="http://schemas.microsoft.com/office/drawing/2014/main" id="{088ED0A3-6B66-90B8-369D-81B847AE2D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781" y="3685329"/>
            <a:ext cx="8128819" cy="2671227"/>
          </a:xfrm>
          <a:prstGeom prst="rect">
            <a:avLst/>
          </a:prstGeom>
        </p:spPr>
      </p:pic>
      <p:sp>
        <p:nvSpPr>
          <p:cNvPr id="7" name="Rounded Rectangle 10">
            <a:extLst>
              <a:ext uri="{FF2B5EF4-FFF2-40B4-BE49-F238E27FC236}">
                <a16:creationId xmlns:a16="http://schemas.microsoft.com/office/drawing/2014/main" id="{C609F117-237F-35DF-9C74-18412DDFDEE2}"/>
              </a:ext>
            </a:extLst>
          </p:cNvPr>
          <p:cNvSpPr/>
          <p:nvPr/>
        </p:nvSpPr>
        <p:spPr>
          <a:xfrm>
            <a:off x="481781" y="1119812"/>
            <a:ext cx="1737360" cy="329184"/>
          </a:xfrm>
          <a:prstGeom prst="roundRect">
            <a:avLst/>
          </a:prstGeom>
          <a:solidFill>
            <a:srgbClr val="F2F7F2"/>
          </a:solidFill>
          <a:ln>
            <a:solidFill>
              <a:srgbClr val="D2E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7D15B6-DCC1-892D-28D3-B4DD0192E2F3}"/>
              </a:ext>
            </a:extLst>
          </p:cNvPr>
          <p:cNvSpPr txBox="1"/>
          <p:nvPr/>
        </p:nvSpPr>
        <p:spPr>
          <a:xfrm>
            <a:off x="572729" y="1141822"/>
            <a:ext cx="15179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0F2D46"/>
                </a:solidFill>
                <a:latin typeface="Aptos" panose="020B0004020202020204" pitchFamily="34" charset="0"/>
              </a:rPr>
              <a:t>Pallet state</a:t>
            </a:r>
          </a:p>
        </p:txBody>
      </p:sp>
      <p:sp>
        <p:nvSpPr>
          <p:cNvPr id="9" name="Rounded Rectangle 13">
            <a:extLst>
              <a:ext uri="{FF2B5EF4-FFF2-40B4-BE49-F238E27FC236}">
                <a16:creationId xmlns:a16="http://schemas.microsoft.com/office/drawing/2014/main" id="{C9158FA8-17DC-710D-986C-23C2F6D5DF0D}"/>
              </a:ext>
            </a:extLst>
          </p:cNvPr>
          <p:cNvSpPr/>
          <p:nvPr/>
        </p:nvSpPr>
        <p:spPr>
          <a:xfrm>
            <a:off x="481781" y="3182407"/>
            <a:ext cx="1554480" cy="329184"/>
          </a:xfrm>
          <a:prstGeom prst="roundRect">
            <a:avLst/>
          </a:prstGeom>
          <a:solidFill>
            <a:srgbClr val="F2F7F2"/>
          </a:solidFill>
          <a:ln>
            <a:solidFill>
              <a:srgbClr val="D2E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414F0D-CE1B-49CA-1308-A62A231660E7}"/>
              </a:ext>
            </a:extLst>
          </p:cNvPr>
          <p:cNvSpPr txBox="1"/>
          <p:nvPr/>
        </p:nvSpPr>
        <p:spPr>
          <a:xfrm>
            <a:off x="591509" y="3203814"/>
            <a:ext cx="13350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0F2D46"/>
                </a:solidFill>
                <a:latin typeface="Aptos"/>
              </a:rPr>
              <a:t>Status log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C10CD4-13DD-778C-05EA-B7406F1BD664}"/>
              </a:ext>
            </a:extLst>
          </p:cNvPr>
          <p:cNvSpPr txBox="1"/>
          <p:nvPr/>
        </p:nvSpPr>
        <p:spPr>
          <a:xfrm>
            <a:off x="572729" y="6486802"/>
            <a:ext cx="61009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0" dirty="0" err="1">
                <a:solidFill>
                  <a:srgbClr val="5F6970"/>
                </a:solidFill>
                <a:latin typeface="Aptos"/>
              </a:rPr>
              <a:t>FlowCore</a:t>
            </a:r>
            <a:r>
              <a:rPr lang="en-US" sz="1200" b="0" dirty="0">
                <a:solidFill>
                  <a:srgbClr val="5F6970"/>
                </a:solidFill>
                <a:latin typeface="Aptos"/>
              </a:rPr>
              <a:t> Warehouse Project</a:t>
            </a:r>
          </a:p>
        </p:txBody>
      </p:sp>
    </p:spTree>
    <p:extLst>
      <p:ext uri="{BB962C8B-B14F-4D97-AF65-F5344CB8AC3E}">
        <p14:creationId xmlns:p14="http://schemas.microsoft.com/office/powerpoint/2010/main" val="1711911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4765" y="112555"/>
            <a:ext cx="174964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400" b="1" dirty="0">
                <a:solidFill>
                  <a:srgbClr val="0F1F2D"/>
                </a:solidFill>
                <a:latin typeface="Aptos"/>
              </a:rPr>
              <a:t>Oracle SQL</a:t>
            </a:r>
            <a:endParaRPr sz="2400" b="1" dirty="0">
              <a:solidFill>
                <a:srgbClr val="0F1F2D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98581" y="587739"/>
            <a:ext cx="1051560" cy="41148"/>
          </a:xfrm>
          <a:prstGeom prst="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760568" y="203708"/>
            <a:ext cx="211179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dirty="0" err="1">
                <a:solidFill>
                  <a:srgbClr val="5F6970"/>
                </a:solidFill>
                <a:latin typeface="Aptos"/>
              </a:rPr>
              <a:t>FlowCore</a:t>
            </a:r>
            <a:r>
              <a:rPr sz="1200" b="0" dirty="0">
                <a:solidFill>
                  <a:srgbClr val="5F6970"/>
                </a:solidFill>
                <a:latin typeface="Aptos"/>
              </a:rPr>
              <a:t> Warehouse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841174"/>
            <a:ext cx="11797235" cy="2523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Oracle stores the same warehouse scenario in relational tables so the final state can</a:t>
            </a:r>
          </a:p>
          <a:p>
            <a:pPr fontAlgn="base"/>
            <a:r>
              <a:rPr lang="en-US" sz="2000" dirty="0">
                <a:latin typeface="Aptos" panose="020B0004020202020204" pitchFamily="34" charset="0"/>
              </a:rPr>
              <a:t>      be queried and validated.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000" dirty="0" err="1">
                <a:latin typeface="Aptos" panose="020B0004020202020204" pitchFamily="34" charset="0"/>
              </a:rPr>
              <a:t>MySchema.sql</a:t>
            </a:r>
            <a:r>
              <a:rPr lang="en-US" sz="2000" dirty="0">
                <a:latin typeface="Aptos" panose="020B0004020202020204" pitchFamily="34" charset="0"/>
              </a:rPr>
              <a:t> creates RECEIPT, LOCATION, PALLET, and STATUS_EVENT.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000" dirty="0" err="1">
                <a:latin typeface="Aptos" panose="020B0004020202020204" pitchFamily="34" charset="0"/>
              </a:rPr>
              <a:t>Sample_Data.sql</a:t>
            </a:r>
            <a:r>
              <a:rPr lang="en-US" sz="2000" dirty="0">
                <a:latin typeface="Aptos" panose="020B0004020202020204" pitchFamily="34" charset="0"/>
              </a:rPr>
              <a:t> loads the baseline scenario: 1 receipt, 5 locations, 3 pallets, and</a:t>
            </a:r>
          </a:p>
          <a:p>
            <a:pPr fontAlgn="base"/>
            <a:r>
              <a:rPr lang="en-US" sz="2000" dirty="0">
                <a:latin typeface="Aptos" panose="020B0004020202020204" pitchFamily="34" charset="0"/>
              </a:rPr>
              <a:t>     9 lifecycle events.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000" dirty="0" err="1">
                <a:latin typeface="Aptos" panose="020B0004020202020204" pitchFamily="34" charset="0"/>
              </a:rPr>
              <a:t>SQL_Operations.sql</a:t>
            </a:r>
            <a:r>
              <a:rPr lang="en-US" sz="2000" dirty="0">
                <a:latin typeface="Aptos" panose="020B0004020202020204" pitchFamily="34" charset="0"/>
              </a:rPr>
              <a:t> demonstrates retrieval, filtering, joins, aggregation, validation checks,</a:t>
            </a:r>
          </a:p>
          <a:p>
            <a:pPr fontAlgn="base"/>
            <a:r>
              <a:rPr lang="en-US" sz="2000" dirty="0">
                <a:latin typeface="Aptos" panose="020B0004020202020204" pitchFamily="34" charset="0"/>
              </a:rPr>
              <a:t>     and a safe UPDATE/ROLLBACK example.</a:t>
            </a:r>
          </a:p>
          <a:p>
            <a:pPr fontAlgn="base"/>
            <a:endParaRPr lang="en-US" dirty="0">
              <a:latin typeface="Aptos" panose="020B0004020202020204" pitchFamily="34" charset="0"/>
            </a:endParaRPr>
          </a:p>
        </p:txBody>
      </p:sp>
      <p:pic>
        <p:nvPicPr>
          <p:cNvPr id="11" name="Εικόνα 10">
            <a:extLst>
              <a:ext uri="{FF2B5EF4-FFF2-40B4-BE49-F238E27FC236}">
                <a16:creationId xmlns:a16="http://schemas.microsoft.com/office/drawing/2014/main" id="{3D13E8A8-3D66-E9E6-B382-A11216688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9895" y="3107030"/>
            <a:ext cx="4319225" cy="3731883"/>
          </a:xfrm>
          <a:prstGeom prst="rect">
            <a:avLst/>
          </a:prstGeom>
        </p:spPr>
      </p:pic>
      <p:pic>
        <p:nvPicPr>
          <p:cNvPr id="13" name="Εικόνα 12">
            <a:extLst>
              <a:ext uri="{FF2B5EF4-FFF2-40B4-BE49-F238E27FC236}">
                <a16:creationId xmlns:a16="http://schemas.microsoft.com/office/drawing/2014/main" id="{C98EF4AF-04A0-F102-E65A-3E25A4CED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1056" y="4940271"/>
            <a:ext cx="3106994" cy="1722585"/>
          </a:xfrm>
          <a:prstGeom prst="rect">
            <a:avLst/>
          </a:prstGeom>
        </p:spPr>
      </p:pic>
      <p:sp>
        <p:nvSpPr>
          <p:cNvPr id="16" name="Rounded Rectangle 10">
            <a:extLst>
              <a:ext uri="{FF2B5EF4-FFF2-40B4-BE49-F238E27FC236}">
                <a16:creationId xmlns:a16="http://schemas.microsoft.com/office/drawing/2014/main" id="{4151D21C-BBE1-1C69-A8D6-F2F2915D9B6A}"/>
              </a:ext>
            </a:extLst>
          </p:cNvPr>
          <p:cNvSpPr/>
          <p:nvPr/>
        </p:nvSpPr>
        <p:spPr>
          <a:xfrm>
            <a:off x="7745361" y="4450201"/>
            <a:ext cx="1737360" cy="329184"/>
          </a:xfrm>
          <a:prstGeom prst="roundRect">
            <a:avLst/>
          </a:prstGeom>
          <a:solidFill>
            <a:srgbClr val="F2F7F2"/>
          </a:solidFill>
          <a:ln>
            <a:solidFill>
              <a:srgbClr val="D2E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9B1368-6505-2161-A162-6D3A0863282B}"/>
              </a:ext>
            </a:extLst>
          </p:cNvPr>
          <p:cNvSpPr txBox="1"/>
          <p:nvPr/>
        </p:nvSpPr>
        <p:spPr>
          <a:xfrm>
            <a:off x="7855089" y="4480977"/>
            <a:ext cx="15179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0F2D46"/>
                </a:solidFill>
                <a:latin typeface="Aptos" panose="020B0004020202020204" pitchFamily="34" charset="0"/>
              </a:rPr>
              <a:t>Status Proof</a:t>
            </a:r>
            <a:endParaRPr sz="1400" b="1" dirty="0">
              <a:solidFill>
                <a:srgbClr val="0F2D46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9EBC4E-7D03-7B4A-4464-6770F51C7395}"/>
              </a:ext>
            </a:extLst>
          </p:cNvPr>
          <p:cNvSpPr txBox="1"/>
          <p:nvPr/>
        </p:nvSpPr>
        <p:spPr>
          <a:xfrm>
            <a:off x="394765" y="6561914"/>
            <a:ext cx="617465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0" dirty="0" err="1">
                <a:solidFill>
                  <a:srgbClr val="5F6970"/>
                </a:solidFill>
                <a:latin typeface="Aptos"/>
              </a:rPr>
              <a:t>FlowCore</a:t>
            </a:r>
            <a:r>
              <a:rPr lang="en-US" sz="1200" b="0" dirty="0">
                <a:solidFill>
                  <a:srgbClr val="5F6970"/>
                </a:solidFill>
                <a:latin typeface="Aptos"/>
              </a:rPr>
              <a:t> Warehouse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381604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dirty="0">
                <a:solidFill>
                  <a:srgbClr val="0F1F2D"/>
                </a:solidFill>
                <a:latin typeface="Aptos"/>
              </a:rPr>
              <a:t>PL/SQL </a:t>
            </a:r>
            <a:r>
              <a:rPr lang="en-US" sz="2400" b="1" dirty="0">
                <a:solidFill>
                  <a:srgbClr val="0F1F2D"/>
                </a:solidFill>
                <a:latin typeface="Aptos"/>
              </a:rPr>
              <a:t>Capacity Function</a:t>
            </a:r>
            <a:endParaRPr sz="2400" b="1" dirty="0">
              <a:solidFill>
                <a:srgbClr val="0F1F2D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109960" y="320040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970"/>
                </a:solidFill>
                <a:latin typeface="Aptos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591410" y="841248"/>
            <a:ext cx="1051560" cy="41148"/>
          </a:xfrm>
          <a:prstGeom prst="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211179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dirty="0" err="1">
                <a:solidFill>
                  <a:srgbClr val="5F6970"/>
                </a:solidFill>
                <a:latin typeface="Aptos"/>
              </a:rPr>
              <a:t>FlowCore</a:t>
            </a:r>
            <a:r>
              <a:rPr sz="1200" b="0" dirty="0">
                <a:solidFill>
                  <a:srgbClr val="5F6970"/>
                </a:solidFill>
                <a:latin typeface="Aptos"/>
              </a:rPr>
              <a:t> Warehouse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4955"/>
            <a:ext cx="9875520" cy="286232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81E23"/>
                </a:solidFill>
                <a:latin typeface="Aptos"/>
              </a:defRPr>
            </a:pPr>
            <a:endParaRPr lang="en-US" sz="20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181E23"/>
                </a:solidFill>
                <a:latin typeface="Aptos"/>
              </a:defRPr>
            </a:pPr>
            <a:r>
              <a:rPr lang="en-US" sz="2000" dirty="0"/>
              <a:t>Function: GET_LOCATION_AVAILABLE_SLOTS(</a:t>
            </a:r>
            <a:r>
              <a:rPr lang="en-US" sz="2000" dirty="0" err="1"/>
              <a:t>location_id</a:t>
            </a:r>
            <a:r>
              <a:rPr lang="en-US" sz="2000" dirty="0"/>
              <a:t>)</a:t>
            </a:r>
            <a:endParaRPr sz="20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181E23"/>
                </a:solidFill>
                <a:latin typeface="Aptos"/>
              </a:defRPr>
            </a:pPr>
            <a:r>
              <a:rPr lang="en-US" sz="2000" dirty="0"/>
              <a:t>It calculates remaining slots for each warehouse location.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181E23"/>
                </a:solidFill>
                <a:latin typeface="Aptos"/>
              </a:defRPr>
            </a:pPr>
            <a:r>
              <a:rPr lang="en-US" sz="2000" b="1" dirty="0">
                <a:latin typeface="gg sans"/>
              </a:rPr>
              <a:t>Formula: </a:t>
            </a:r>
            <a:r>
              <a:rPr lang="en-US" sz="2000" dirty="0">
                <a:latin typeface="gg sans"/>
              </a:rPr>
              <a:t>available slots = capacity - </a:t>
            </a:r>
            <a:r>
              <a:rPr lang="en-US" sz="2000" dirty="0" err="1">
                <a:latin typeface="gg sans"/>
              </a:rPr>
              <a:t>used_slots</a:t>
            </a:r>
            <a:r>
              <a:rPr lang="en-US" sz="2000" dirty="0">
                <a:latin typeface="gg sans"/>
              </a:rPr>
              <a:t> - assigned pallets.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181E23"/>
                </a:solidFill>
                <a:latin typeface="Aptos"/>
              </a:defRPr>
            </a:pPr>
            <a:r>
              <a:rPr lang="en-US" sz="2000" dirty="0">
                <a:latin typeface="gg sans"/>
              </a:rPr>
              <a:t>Expected baseline: A01=0, A02=0, A03=0, B01=2, C01=1.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181E23"/>
                </a:solidFill>
                <a:latin typeface="Aptos"/>
              </a:defRPr>
            </a:pPr>
            <a:r>
              <a:rPr lang="en-US" sz="2000" dirty="0">
                <a:latin typeface="gg sans"/>
              </a:rPr>
              <a:t>This supports placement decisions by showing which locations still have available capacity</a:t>
            </a:r>
            <a:endParaRPr lang="en-US" sz="2000" dirty="0"/>
          </a:p>
          <a:p>
            <a:pPr>
              <a:spcAft>
                <a:spcPts val="800"/>
              </a:spcAft>
              <a:defRPr sz="1700">
                <a:solidFill>
                  <a:srgbClr val="181E23"/>
                </a:solidFill>
                <a:latin typeface="Aptos"/>
              </a:defRPr>
            </a:pPr>
            <a:endParaRPr sz="2000" dirty="0"/>
          </a:p>
        </p:txBody>
      </p:sp>
      <p:pic>
        <p:nvPicPr>
          <p:cNvPr id="13" name="Εικόνα 12">
            <a:extLst>
              <a:ext uri="{FF2B5EF4-FFF2-40B4-BE49-F238E27FC236}">
                <a16:creationId xmlns:a16="http://schemas.microsoft.com/office/drawing/2014/main" id="{3BE4E92F-F04C-D034-A807-02834BAFD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05" y="4019219"/>
            <a:ext cx="7443019" cy="2380448"/>
          </a:xfrm>
          <a:prstGeom prst="rect">
            <a:avLst/>
          </a:prstGeom>
        </p:spPr>
      </p:pic>
      <p:pic>
        <p:nvPicPr>
          <p:cNvPr id="15" name="Εικόνα 14">
            <a:extLst>
              <a:ext uri="{FF2B5EF4-FFF2-40B4-BE49-F238E27FC236}">
                <a16:creationId xmlns:a16="http://schemas.microsoft.com/office/drawing/2014/main" id="{6950DD86-BBB5-069C-38B9-E5396FFE8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177" y="5294128"/>
            <a:ext cx="4299318" cy="110553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592822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dirty="0">
                <a:solidFill>
                  <a:srgbClr val="0F1F2D"/>
                </a:solidFill>
                <a:latin typeface="Aptos"/>
              </a:rPr>
              <a:t>C++ Priority Placement Decision Checker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320040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970"/>
                </a:solidFill>
                <a:latin typeface="Aptos"/>
              </a:rP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507258" y="841248"/>
            <a:ext cx="1051560" cy="41148"/>
          </a:xfrm>
          <a:prstGeom prst="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211179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dirty="0" err="1">
                <a:solidFill>
                  <a:srgbClr val="5F6970"/>
                </a:solidFill>
                <a:latin typeface="Aptos"/>
              </a:rPr>
              <a:t>FlowCore</a:t>
            </a:r>
            <a:r>
              <a:rPr sz="1200" b="0" dirty="0">
                <a:solidFill>
                  <a:srgbClr val="5F6970"/>
                </a:solidFill>
                <a:latin typeface="Aptos"/>
              </a:rPr>
              <a:t> Warehouse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20878"/>
            <a:ext cx="9875520" cy="18107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181E23"/>
                </a:solidFill>
                <a:latin typeface="Aptos"/>
              </a:defRPr>
            </a:pPr>
            <a:r>
              <a:rPr lang="en-US" dirty="0"/>
              <a:t>Input: pallet_state.csv and location_usage.csv from the Bash runtime.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181E23"/>
                </a:solidFill>
                <a:latin typeface="Aptos"/>
              </a:defRPr>
            </a:pPr>
            <a:r>
              <a:rPr lang="en-US" b="1" dirty="0"/>
              <a:t>Rule: </a:t>
            </a:r>
            <a:r>
              <a:rPr lang="en-US" dirty="0"/>
              <a:t>high-quantity pallets must be assigned to active priority locations.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181E23"/>
                </a:solidFill>
                <a:latin typeface="Aptos"/>
              </a:defRPr>
            </a:pPr>
            <a:r>
              <a:rPr lang="en-US" dirty="0"/>
              <a:t>High quantity threshold: quantity &gt;= 12.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181E23"/>
                </a:solidFill>
                <a:latin typeface="Aptos"/>
              </a:defRPr>
            </a:pPr>
            <a:r>
              <a:rPr lang="en-US" dirty="0"/>
              <a:t>Minimum location priority: 2. 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181E23"/>
                </a:solidFill>
                <a:latin typeface="Aptos"/>
              </a:defRPr>
            </a:pPr>
            <a:r>
              <a:rPr lang="en-US" dirty="0"/>
              <a:t>Expected result: 2 priority pallets checked and priority placement decision passed</a:t>
            </a:r>
          </a:p>
        </p:txBody>
      </p:sp>
      <p:pic>
        <p:nvPicPr>
          <p:cNvPr id="9" name="Εικόνα 8">
            <a:extLst>
              <a:ext uri="{FF2B5EF4-FFF2-40B4-BE49-F238E27FC236}">
                <a16:creationId xmlns:a16="http://schemas.microsoft.com/office/drawing/2014/main" id="{6658BBAC-AFB0-F0DC-9F5C-063533325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170112"/>
            <a:ext cx="8335624" cy="1341405"/>
          </a:xfrm>
          <a:prstGeom prst="rect">
            <a:avLst/>
          </a:prstGeom>
        </p:spPr>
      </p:pic>
      <p:pic>
        <p:nvPicPr>
          <p:cNvPr id="13" name="Εικόνα 12">
            <a:extLst>
              <a:ext uri="{FF2B5EF4-FFF2-40B4-BE49-F238E27FC236}">
                <a16:creationId xmlns:a16="http://schemas.microsoft.com/office/drawing/2014/main" id="{ADD95A97-388E-38E5-8AF9-D61DFA1B3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640827"/>
            <a:ext cx="7492174" cy="16842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CB43B4-4043-94CB-78C6-4C025EB2A3C0}"/>
              </a:ext>
            </a:extLst>
          </p:cNvPr>
          <p:cNvSpPr txBox="1"/>
          <p:nvPr/>
        </p:nvSpPr>
        <p:spPr>
          <a:xfrm>
            <a:off x="452283" y="286218"/>
            <a:ext cx="8908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ptos" panose="020B0004020202020204" pitchFamily="34" charset="0"/>
              </a:rPr>
              <a:t>Final Outcome and Reflection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639403B-4AC1-1101-D04F-F9C22603D85D}"/>
              </a:ext>
            </a:extLst>
          </p:cNvPr>
          <p:cNvSpPr/>
          <p:nvPr/>
        </p:nvSpPr>
        <p:spPr>
          <a:xfrm>
            <a:off x="530941" y="800100"/>
            <a:ext cx="1051560" cy="41148"/>
          </a:xfrm>
          <a:prstGeom prst="rect">
            <a:avLst/>
          </a:prstGeom>
          <a:solidFill>
            <a:srgbClr val="00897B"/>
          </a:solidFill>
          <a:ln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ADDC6B-CB44-A39D-9E62-5DDD9568FF71}"/>
              </a:ext>
            </a:extLst>
          </p:cNvPr>
          <p:cNvSpPr txBox="1"/>
          <p:nvPr/>
        </p:nvSpPr>
        <p:spPr>
          <a:xfrm>
            <a:off x="297424" y="1442403"/>
            <a:ext cx="843361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inbound scenario runs end to end.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3 pallets reach STORED status.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9 lifecycle events are recorded.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capacity violations are detected.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SQL, PL/SQL, Bash, and C++ all confirm the same baseline result.</a:t>
            </a:r>
          </a:p>
        </p:txBody>
      </p:sp>
      <p:sp>
        <p:nvSpPr>
          <p:cNvPr id="8" name="Rounded Rectangle 10">
            <a:extLst>
              <a:ext uri="{FF2B5EF4-FFF2-40B4-BE49-F238E27FC236}">
                <a16:creationId xmlns:a16="http://schemas.microsoft.com/office/drawing/2014/main" id="{81F2B14F-7EBC-DE81-9595-073BFFBFFA97}"/>
              </a:ext>
            </a:extLst>
          </p:cNvPr>
          <p:cNvSpPr/>
          <p:nvPr/>
        </p:nvSpPr>
        <p:spPr>
          <a:xfrm>
            <a:off x="530941" y="1038916"/>
            <a:ext cx="1737360" cy="329184"/>
          </a:xfrm>
          <a:prstGeom prst="roundRect">
            <a:avLst/>
          </a:prstGeom>
          <a:solidFill>
            <a:srgbClr val="F2F7F2"/>
          </a:solidFill>
          <a:ln>
            <a:solidFill>
              <a:srgbClr val="D2E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5E5669-DCFD-AD32-E7A8-7E4898D2A9EA}"/>
              </a:ext>
            </a:extLst>
          </p:cNvPr>
          <p:cNvSpPr txBox="1"/>
          <p:nvPr/>
        </p:nvSpPr>
        <p:spPr>
          <a:xfrm>
            <a:off x="377852" y="1069692"/>
            <a:ext cx="20435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0F2D46"/>
                </a:solidFill>
                <a:latin typeface="Aptos" panose="020B0004020202020204" pitchFamily="34" charset="0"/>
              </a:rPr>
              <a:t>Validated Outcome</a:t>
            </a:r>
            <a:endParaRPr sz="1400" b="1" dirty="0">
              <a:solidFill>
                <a:srgbClr val="0F2D46"/>
              </a:solidFill>
              <a:latin typeface="Aptos" panose="020B0004020202020204" pitchFamily="34" charset="0"/>
            </a:endParaRPr>
          </a:p>
        </p:txBody>
      </p:sp>
      <p:sp>
        <p:nvSpPr>
          <p:cNvPr id="10" name="Rounded Rectangle 10">
            <a:extLst>
              <a:ext uri="{FF2B5EF4-FFF2-40B4-BE49-F238E27FC236}">
                <a16:creationId xmlns:a16="http://schemas.microsoft.com/office/drawing/2014/main" id="{9F7D7ABC-E9FA-461A-EE41-2BB696380183}"/>
              </a:ext>
            </a:extLst>
          </p:cNvPr>
          <p:cNvSpPr/>
          <p:nvPr/>
        </p:nvSpPr>
        <p:spPr>
          <a:xfrm>
            <a:off x="4136725" y="3460390"/>
            <a:ext cx="2273906" cy="547965"/>
          </a:xfrm>
          <a:prstGeom prst="roundRect">
            <a:avLst/>
          </a:prstGeom>
          <a:solidFill>
            <a:srgbClr val="F2F7F2"/>
          </a:solidFill>
          <a:ln>
            <a:solidFill>
              <a:srgbClr val="D2E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ECFEAA-17A3-8ADB-5EC8-0E9FC6DDA602}"/>
              </a:ext>
            </a:extLst>
          </p:cNvPr>
          <p:cNvSpPr txBox="1"/>
          <p:nvPr/>
        </p:nvSpPr>
        <p:spPr>
          <a:xfrm>
            <a:off x="4335483" y="3441986"/>
            <a:ext cx="18763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0F2D46"/>
                </a:solidFill>
                <a:latin typeface="Aptos" panose="020B0004020202020204" pitchFamily="34" charset="0"/>
              </a:rPr>
              <a:t>What we would improve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9715E2-1C6E-4522-86F0-B6B6BD3DE72C}"/>
              </a:ext>
            </a:extLst>
          </p:cNvPr>
          <p:cNvSpPr txBox="1"/>
          <p:nvPr/>
        </p:nvSpPr>
        <p:spPr>
          <a:xfrm>
            <a:off x="1056721" y="4003491"/>
            <a:ext cx="8541777" cy="2054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Aptos" panose="020B0004020202020204" pitchFamily="34" charset="0"/>
              </a:rPr>
              <a:t>Standardize naming, file structure, and document style from the beginning.</a:t>
            </a:r>
          </a:p>
          <a:p>
            <a:pPr algn="l" fontAlgn="base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Aptos" panose="020B0004020202020204" pitchFamily="34" charset="0"/>
              </a:rPr>
              <a:t>Add a single automated run script for the full demo sequence.</a:t>
            </a:r>
          </a:p>
          <a:p>
            <a:pPr algn="l" fontAlgn="base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Aptos" panose="020B0004020202020204" pitchFamily="34" charset="0"/>
              </a:rPr>
              <a:t>Add stronger error handling for invalid locations, missing files, and failed database loads.</a:t>
            </a:r>
          </a:p>
          <a:p>
            <a:pPr algn="l" fontAlgn="base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Aptos" panose="020B0004020202020204" pitchFamily="34" charset="0"/>
              </a:rPr>
              <a:t>Keep screenshots and evidence files organized during development, not only at the end.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45B124-B6EC-5A5D-26CF-61A7757AB33C}"/>
              </a:ext>
            </a:extLst>
          </p:cNvPr>
          <p:cNvSpPr txBox="1"/>
          <p:nvPr/>
        </p:nvSpPr>
        <p:spPr>
          <a:xfrm>
            <a:off x="530941" y="6462501"/>
            <a:ext cx="61009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0" dirty="0" err="1">
                <a:solidFill>
                  <a:srgbClr val="5F6970"/>
                </a:solidFill>
                <a:latin typeface="Aptos"/>
              </a:rPr>
              <a:t>FlowCore</a:t>
            </a:r>
            <a:r>
              <a:rPr lang="en-US" sz="1200" b="0" dirty="0">
                <a:solidFill>
                  <a:srgbClr val="5F6970"/>
                </a:solidFill>
                <a:latin typeface="Aptos"/>
              </a:rPr>
              <a:t> Warehouse Project</a:t>
            </a:r>
          </a:p>
        </p:txBody>
      </p:sp>
    </p:spTree>
    <p:extLst>
      <p:ext uri="{BB962C8B-B14F-4D97-AF65-F5344CB8AC3E}">
        <p14:creationId xmlns:p14="http://schemas.microsoft.com/office/powerpoint/2010/main" val="3555163327"/>
      </p:ext>
    </p:extLst>
  </p:cSld>
  <p:clrMapOvr>
    <a:masterClrMapping/>
  </p:clrMapOvr>
</p:sld>
</file>

<file path=ppt/theme/theme1.xml><?xml version="1.0" encoding="utf-8"?>
<a:theme xmlns:a="http://schemas.openxmlformats.org/drawingml/2006/main" name="Όψη">
  <a:themeElements>
    <a:clrScheme name="Όψη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Όψη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Όψη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190</TotalTime>
  <Words>607</Words>
  <Application>Microsoft Office PowerPoint</Application>
  <PresentationFormat>Ευρεία οθόνη</PresentationFormat>
  <Paragraphs>99</Paragraphs>
  <Slides>10</Slides>
  <Notes>0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5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10</vt:i4>
      </vt:variant>
    </vt:vector>
  </HeadingPairs>
  <TitlesOfParts>
    <vt:vector size="16" baseType="lpstr">
      <vt:lpstr>Aptos</vt:lpstr>
      <vt:lpstr>Arial</vt:lpstr>
      <vt:lpstr>gg sans</vt:lpstr>
      <vt:lpstr>Trebuchet MS</vt:lpstr>
      <vt:lpstr>Wingdings 3</vt:lpstr>
      <vt:lpstr>Όψη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Pontikeas Eftychiadis Panagiotis</cp:lastModifiedBy>
  <cp:revision>4</cp:revision>
  <dcterms:created xsi:type="dcterms:W3CDTF">2013-01-27T09:14:16Z</dcterms:created>
  <dcterms:modified xsi:type="dcterms:W3CDTF">2026-04-28T22:05:06Z</dcterms:modified>
  <cp:category/>
</cp:coreProperties>
</file>